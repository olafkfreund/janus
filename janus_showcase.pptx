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E8019"/>
                </a:solidFill>
                <a:latin typeface="Arial"/>
              </a:defRPr>
            </a:pPr>
            <a:r>
              <a:t>ENTERPRISE MODEL CONTEXT PROTOCOL (MCP) SOLUTION</a:t>
            </a:r>
          </a:p>
          <a:p>
            <a:pPr>
              <a:spcAft>
                <a:spcPts val="1500"/>
              </a:spcAft>
              <a:defRPr sz="4800" b="1">
                <a:solidFill>
                  <a:srgbClr val="EBDBB2"/>
                </a:solidFill>
                <a:latin typeface="Arial"/>
              </a:defRPr>
            </a:pPr>
            <a:r>
              <a:t>JANUS API GATEWAY &amp; PORTAL</a:t>
            </a:r>
          </a:p>
          <a:p>
            <a:pPr>
              <a:spcAft>
                <a:spcPts val="4000"/>
              </a:spcAft>
              <a:defRPr sz="2000">
                <a:solidFill>
                  <a:srgbClr val="A89984"/>
                </a:solidFill>
                <a:latin typeface="Arial"/>
              </a:defRPr>
            </a:pPr>
            <a:r>
              <a:t>Securing, managing, and translating REST APIs into dynamic LLM tools.</a:t>
            </a:r>
          </a:p>
          <a:p>
            <a:pPr>
              <a:defRPr sz="1200" b="1">
                <a:solidFill>
                  <a:srgbClr val="FE8019"/>
                </a:solidFill>
                <a:latin typeface="Arial"/>
              </a:defRPr>
            </a:pPr>
            <a:r>
              <a:t>Regulated Environment Ready  •  Zero-Dependency Go Binary  •  mTLS &amp; Pluggable Vaults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E8019"/>
                </a:solidFill>
                <a:latin typeface="Arial"/>
              </a:defRPr>
            </a:pPr>
            <a:r>
              <a:t>JANUS MCP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DBB2"/>
                </a:solidFill>
                <a:latin typeface="Arial"/>
              </a:defRPr>
            </a:pPr>
            <a:r>
              <a:t>Architectural Concept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Dynamic Tool Translation: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Translates standard REST endpoints into dynamic MCP tools on the fly. Generates JSON parameter schemas automatically based on predefined templates.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Runtime Secret Resolution: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Credentials are redacted in configurations and resolved securely at execution time from AWS Secrets Manager, GCP, Azure Vault, or Local JSON stores.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Zero-State Architecture: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Allows stateless clustering in Kubernetes EKS. Keeps configs in PostgreSQL or SQLite, allowing clean horizontal scale-out.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Regulated Security Compliance: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Supports TLS 1.3, Mutual TLS (mTLS) for client verification, and Single Sign-On (OIDC/Okta) for web access. Specifically designed for air-gapped systems.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Prefix &amp; Scope Isolation: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Assigns tool namespaces (e.g. stripe_get_invoice) and generates specific client keys scoped to exact namespace globs.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SPDX Software Bill of Materials: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Build pipelines generate validated SBOM files, proving dependency compliance in auditing reviews.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E8019"/>
                </a:solidFill>
                <a:latin typeface="Arial"/>
              </a:defRPr>
            </a:pPr>
            <a:r>
              <a:t>JANUS MCP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DBB2"/>
                </a:solidFill>
                <a:latin typeface="Arial"/>
              </a:defRPr>
            </a:pPr>
            <a:r>
              <a:t>The Administration Web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Central Control Plane: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A beautiful, premium single-page web console embedded directly inside the Go binary. Rebuilt using standard HTML &amp; CSS for zero external asset dependency.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Connection &amp; Endpoint Wizards: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Wizard dialogs to easily link target microservices, define HTTP paths, specify methods, and input JSON schemas for tool call arguments.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Client Access Scopes: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Administrators can generate client bearer tokens and limit their execution capability to specific API connection subsets.</a:t>
            </a:r>
          </a:p>
        </p:txBody>
      </p:sp>
      <p:pic>
        <p:nvPicPr>
          <p:cNvPr id="5" name="Picture 4" descr="portal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212080" cy="24087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47548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A89984"/>
                </a:solidFill>
                <a:latin typeface="Arial"/>
              </a:defRPr>
            </a:pPr>
            <a:r>
              <a:t>Figure 3.1: Central gateway monitoring dashboard console in dark mode.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E8019"/>
                </a:solidFill>
                <a:latin typeface="Arial"/>
              </a:defRPr>
            </a:pPr>
            <a:r>
              <a:t>JANUS MCP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DBB2"/>
                </a:solidFill>
                <a:latin typeface="Arial"/>
              </a:defRPr>
            </a:pPr>
            <a:r>
              <a:t>Operational Telemetry &amp; Auditing</a:t>
            </a:r>
          </a:p>
        </p:txBody>
      </p:sp>
      <p:pic>
        <p:nvPicPr>
          <p:cNvPr id="4" name="Picture 3" descr="portal_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212080" cy="23843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7548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A89984"/>
                </a:solidFill>
                <a:latin typeface="Arial"/>
              </a:defRPr>
            </a:pPr>
            <a:r>
              <a:t>Figure 4.1: Real-time traffic, database, and connection telemetry.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Continuous Telemetry: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Real-time tracking of request volumes, processing latency, DB size, active tokens, and upstream REST path health.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Compliance Audit Logs: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Full historical table captures caller details, requested tools, dynamic HTTP target URL execution, success/error status, and duration.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Prometheus Metrics Integration: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Exposes standard raw Prometheus endpoints `/metrics` for integration with company-wide DataDog, Grafana, or OpenTelemetry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E8019"/>
                </a:solidFill>
                <a:latin typeface="Arial"/>
              </a:defRPr>
            </a:pPr>
            <a:r>
              <a:t>JANUS MCP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DBB2"/>
                </a:solidFill>
                <a:latin typeface="Arial"/>
              </a:defRPr>
            </a:pPr>
            <a:r>
              <a:t>Remote Administration &amp; CLI Utility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Problem: Access Limitations: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Regulated networks prevent direct server console access or UI connections. Administrators need lightweight, remote, secure script tools.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Solution: mcp-cli Utility: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A compiled command-line binary that connects to the portal API remotely over secure JWT sessions. Operates cleanly in local command shells.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CLI Core Capabilities: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1. Remote authentication and session storage.</a:t>
            </a:r>
            <a:br/>
            <a:r>
              <a:t>2. Diagnostic connectivity test: 'mcp-cli verify'.</a:t>
            </a:r>
            <a:br/>
            <a:r>
              <a:t>3. Secret credential injection: 'mcp-cli vault set'.</a:t>
            </a:r>
            <a:br/>
            <a:r>
              <a:t>4. Real-time diagnostic metrics: 'mcp-cli status'.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solidFill>
            <a:srgbClr val="0F1112"/>
          </a:solidFill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A89984"/>
                </a:solidFill>
                <a:latin typeface="Courier New"/>
              </a:defRPr>
            </a:pPr>
            <a:r>
              <a:t>  # Authenticate with Gateway</a:t>
            </a:r>
          </a:p>
          <a:p>
            <a:pPr>
              <a:spcAft>
                <a:spcPts val="200"/>
              </a:spcAft>
              <a:defRPr sz="1250" b="1">
                <a:solidFill>
                  <a:srgbClr val="FFFFFF"/>
                </a:solidFill>
                <a:latin typeface="Courier New"/>
              </a:defRPr>
            </a:pPr>
            <a:r>
              <a:t>  $ mcp-cli login admin --addr http://localhost:8899</a:t>
            </a:r>
          </a:p>
          <a:p>
            <a:pPr>
              <a:spcAft>
                <a:spcPts val="1000"/>
              </a:spcAft>
              <a:defRPr sz="1100">
                <a:solidFill>
                  <a:srgbClr val="FE8019"/>
                </a:solidFill>
                <a:latin typeface="Courier New"/>
              </a:defRPr>
            </a:pPr>
            <a:r>
              <a:t>  ✔ Successfully logged in. Session JWT saved.</a:t>
            </a:r>
          </a:p>
          <a:p>
            <a:pPr>
              <a:spcAft>
                <a:spcPts val="200"/>
              </a:spcAft>
              <a:defRPr sz="1250" b="1">
                <a:solidFill>
                  <a:srgbClr val="FFFFFF"/>
                </a:solidFill>
                <a:latin typeface="Courier New"/>
              </a:defRPr>
            </a:pPr>
            <a:r>
              <a:t>  $ mcp-cli verify</a:t>
            </a:r>
          </a:p>
          <a:p>
            <a:pPr>
              <a:spcAft>
                <a:spcPts val="1000"/>
              </a:spcAft>
              <a:defRPr sz="1100">
                <a:solidFill>
                  <a:srgbClr val="FE8019"/>
                </a:solidFill>
                <a:latin typeface="Courier New"/>
              </a:defRPr>
            </a:pPr>
            <a:r>
              <a:t>  ✔ Connection [stripe] is HEALTHY (200 OK)</a:t>
            </a:r>
            <a:br/>
            <a:r>
              <a:t>✔ Connection [weather] is HEALTHY (200 OK)</a:t>
            </a:r>
          </a:p>
          <a:p>
            <a:pPr>
              <a:spcAft>
                <a:spcPts val="200"/>
              </a:spcAft>
              <a:defRPr sz="1250" b="1">
                <a:solidFill>
                  <a:srgbClr val="FFFFFF"/>
                </a:solidFill>
                <a:latin typeface="Courier New"/>
              </a:defRPr>
            </a:pPr>
            <a:r>
              <a:t>  $ mcp-cli status</a:t>
            </a:r>
          </a:p>
          <a:p>
            <a:pPr>
              <a:spcAft>
                <a:spcPts val="1000"/>
              </a:spcAft>
              <a:defRPr sz="1100">
                <a:solidFill>
                  <a:srgbClr val="FE8019"/>
                </a:solidFill>
                <a:latin typeface="Courier New"/>
              </a:defRPr>
            </a:pPr>
            <a:r>
              <a:t>  Uptime: 2d 4h 12m  |  DB Size: 64.0 KB</a:t>
            </a:r>
            <a:br/>
            <a:r>
              <a:t>Total Requests: 1,842  |  Failure Rate: 0.2%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E8019"/>
                </a:solidFill>
                <a:latin typeface="Arial"/>
              </a:defRPr>
            </a:pPr>
            <a:r>
              <a:t>JANUS MCP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BDBB2"/>
                </a:solidFill>
                <a:latin typeface="Arial"/>
              </a:defRPr>
            </a:pPr>
            <a:r>
              <a:t>Developer Onboarding &amp;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Interactive Swagger Explorer: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The gateway automatically translates registered MCP tool mappings into a unified Swagger/OpenAPI spec page served at `/swagger.html` for easy testing.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Local Stdio Integration: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Developers add the gateway directly into local IDE config files (e.g. Claude Desktop config) pointing to the compiled Go binary.</a:t>
            </a:r>
          </a:p>
          <a:p>
            <a:pPr>
              <a:spcAft>
                <a:spcPts val="200"/>
              </a:spcAft>
              <a:defRPr sz="1400" b="1">
                <a:solidFill>
                  <a:srgbClr val="EBDBB2"/>
                </a:solidFill>
                <a:latin typeface="Arial"/>
              </a:defRPr>
            </a:pPr>
            <a:r>
              <a:t>• Nix Declarative Sandbox: </a:t>
            </a:r>
          </a:p>
          <a:p>
            <a:pPr>
              <a:spcAft>
                <a:spcPts val="1200"/>
              </a:spcAft>
              <a:defRPr sz="1250">
                <a:solidFill>
                  <a:srgbClr val="A89984"/>
                </a:solidFill>
                <a:latin typeface="Arial"/>
              </a:defRPr>
            </a:pPr>
            <a:r>
              <a:t>Provides a reproducible build environment via Nix flakes. Run 'just build' to compile and 'just validate' to run tests.</a:t>
            </a:r>
          </a:p>
        </p:txBody>
      </p:sp>
      <p:pic>
        <p:nvPicPr>
          <p:cNvPr id="5" name="Picture 4" descr="portal_swagger_ui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212080" cy="23755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475488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A89984"/>
                </a:solidFill>
                <a:latin typeface="Arial"/>
              </a:defRPr>
            </a:pPr>
            <a:r>
              <a:t>Figure 6.1: Unified interactive Swagger UI API documentation explorer.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